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" y="0"/>
            <a:ext cx="5119688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90058" y="0"/>
            <a:ext cx="4752975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35" y="1235497"/>
            <a:ext cx="457200" cy="28575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3"/>
          <p:cNvSpPr/>
          <p:nvPr/>
        </p:nvSpPr>
        <p:spPr>
          <a:xfrm>
            <a:off x="4754835" y="1291828"/>
            <a:ext cx="1304397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66" kern="0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</a:t>
            </a:r>
            <a:endParaRPr lang="en-US" sz="3310" dirty="0"/>
          </a:p>
        </p:txBody>
      </p:sp>
      <p:sp>
        <p:nvSpPr>
          <p:cNvPr id="8" name="Text 4"/>
          <p:cNvSpPr/>
          <p:nvPr/>
        </p:nvSpPr>
        <p:spPr>
          <a:xfrm>
            <a:off x="4754835" y="1733401"/>
            <a:ext cx="4002040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66" kern="0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Manipulation &amp;</a:t>
            </a:r>
            <a:endParaRPr lang="en-US" sz="3310" dirty="0"/>
          </a:p>
        </p:txBody>
      </p:sp>
      <p:sp>
        <p:nvSpPr>
          <p:cNvPr id="9" name="Text 5"/>
          <p:cNvSpPr/>
          <p:nvPr/>
        </p:nvSpPr>
        <p:spPr>
          <a:xfrm>
            <a:off x="4754835" y="2174974"/>
            <a:ext cx="1763613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166" kern="0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Events</a:t>
            </a:r>
            <a:endParaRPr lang="en-US" sz="3310" dirty="0"/>
          </a:p>
        </p:txBody>
      </p:sp>
      <p:sp>
        <p:nvSpPr>
          <p:cNvPr id="10" name="Text 6"/>
          <p:cNvSpPr/>
          <p:nvPr/>
        </p:nvSpPr>
        <p:spPr>
          <a:xfrm>
            <a:off x="4754835" y="2959447"/>
            <a:ext cx="457057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1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an Interactive Product Catalog</a:t>
            </a:r>
            <a:endParaRPr lang="en-US" sz="1510" dirty="0"/>
          </a:p>
        </p:txBody>
      </p:sp>
      <p:sp>
        <p:nvSpPr>
          <p:cNvPr id="11" name="Text 7"/>
          <p:cNvSpPr/>
          <p:nvPr/>
        </p:nvSpPr>
        <p:spPr>
          <a:xfrm>
            <a:off x="4754835" y="3345507"/>
            <a:ext cx="36973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20" b="1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Essentials Basics · Workshop 02</a:t>
            </a:r>
            <a:endParaRPr lang="en-US" sz="1220" dirty="0"/>
          </a:p>
        </p:txBody>
      </p:sp>
      <p:sp>
        <p:nvSpPr>
          <p:cNvPr id="12" name="Text 8"/>
          <p:cNvSpPr/>
          <p:nvPr/>
        </p:nvSpPr>
        <p:spPr>
          <a:xfrm>
            <a:off x="4754835" y="3943424"/>
            <a:ext cx="3486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35"/>
              </a:spcBef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B.Tech in Full Stack AI &amp; Cloud Innovation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0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37195"/>
            <a:ext cx="4449455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Workshop Roadmap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078185"/>
            <a:ext cx="515583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 minutes · discussion, live coding, and reflection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0523" y="1644737"/>
            <a:ext cx="1190625" cy="1776413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245" y="1783407"/>
            <a:ext cx="2770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4245" y="2137916"/>
            <a:ext cx="1258349" cy="6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&amp; Project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4245" y="2894335"/>
            <a:ext cx="550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min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2102048" y="1644737"/>
            <a:ext cx="1190625" cy="1776413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35771" y="1783407"/>
            <a:ext cx="3188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35771" y="2137916"/>
            <a:ext cx="1088090" cy="6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Rendering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DOM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235771" y="2894335"/>
            <a:ext cx="550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473574" y="1644737"/>
            <a:ext cx="1190625" cy="1776413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07296" y="1783407"/>
            <a:ext cx="3260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07296" y="2137916"/>
            <a:ext cx="1129107" cy="6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Making the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Catalog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607296" y="2894335"/>
            <a:ext cx="550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4845100" y="1644737"/>
            <a:ext cx="1190625" cy="1776413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78822" y="1783407"/>
            <a:ext cx="3414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78822" y="2137916"/>
            <a:ext cx="1206401" cy="6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Managing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Forms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78822" y="2894335"/>
            <a:ext cx="550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6216625" y="1644737"/>
            <a:ext cx="1190625" cy="1776413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0347" y="1783407"/>
            <a:ext cx="3356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0347" y="2137916"/>
            <a:ext cx="1246063" cy="8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Search,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Filter, Sort &amp;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Theme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Toggle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350347" y="3113782"/>
            <a:ext cx="550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9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564670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Workshop Outcomes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01140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the end of this session, learners will be able to: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45" y="1552575"/>
            <a:ext cx="4243596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 how JavaScript interacts with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 through the DOM.</a:t>
            </a:r>
            <a:endParaRPr lang="en-US" sz="1370" dirty="0"/>
          </a:p>
        </p:txBody>
      </p:sp>
      <p:sp>
        <p:nvSpPr>
          <p:cNvPr id="7" name="Text 4"/>
          <p:cNvSpPr/>
          <p:nvPr/>
        </p:nvSpPr>
        <p:spPr>
          <a:xfrm>
            <a:off x="4709071" y="1552575"/>
            <a:ext cx="3822494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and manipulate elements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modern DOM APIs.</a:t>
            </a:r>
            <a:endParaRPr lang="en-US" sz="1370" dirty="0"/>
          </a:p>
        </p:txBody>
      </p:sp>
      <p:sp>
        <p:nvSpPr>
          <p:cNvPr id="8" name="Text 5"/>
          <p:cNvSpPr/>
          <p:nvPr/>
        </p:nvSpPr>
        <p:spPr>
          <a:xfrm>
            <a:off x="822945" y="2288977"/>
            <a:ext cx="3399651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update, and remove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elements dynamically.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4709071" y="2288977"/>
            <a:ext cx="3688608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interactions with event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listeners and delegation.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822945" y="3025378"/>
            <a:ext cx="4166689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form data before updating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interface.</a:t>
            </a:r>
            <a:endParaRPr lang="en-US" sz="1370" dirty="0"/>
          </a:p>
        </p:txBody>
      </p:sp>
      <p:sp>
        <p:nvSpPr>
          <p:cNvPr id="11" name="Text 8"/>
          <p:cNvSpPr/>
          <p:nvPr/>
        </p:nvSpPr>
        <p:spPr>
          <a:xfrm>
            <a:off x="4709071" y="3025378"/>
            <a:ext cx="3970794" cy="50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7"/>
              </a:lnSpc>
              <a:buNone/>
            </a:pPr>
            <a:r>
              <a:rPr lang="en-US" sz="137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Search, filter, sort, and switch the</a:t>
            </a:r>
            <a:endParaRPr lang="en-US" sz="1370" dirty="0"/>
          </a:p>
          <a:p>
            <a:pPr algn="l" indent="0" marL="0">
              <a:lnSpc>
                <a:spcPts val="2127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page theme.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689076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Starting Question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388962"/>
            <a:ext cx="7990850" cy="110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223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“Imagine Amazon has 5 lakh products. Do</a:t>
            </a:r>
            <a:endParaRPr lang="en-US" sz="223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223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developers manually write HTML for every</a:t>
            </a:r>
            <a:endParaRPr lang="en-US" sz="223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223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card?”</a:t>
            </a:r>
            <a:endParaRPr lang="en-US" sz="2230" dirty="0"/>
          </a:p>
        </p:txBody>
      </p:sp>
      <p:sp>
        <p:nvSpPr>
          <p:cNvPr id="6" name="Shape 3"/>
          <p:cNvSpPr/>
          <p:nvPr/>
        </p:nvSpPr>
        <p:spPr>
          <a:xfrm>
            <a:off x="639217" y="2829223"/>
            <a:ext cx="642938" cy="409575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633" y="2920082"/>
            <a:ext cx="40308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315" y="2829223"/>
            <a:ext cx="2366963" cy="409575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51769" y="2920082"/>
            <a:ext cx="2644222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comes from a database.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12257" y="2829223"/>
            <a:ext cx="1909762" cy="409575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99855" y="2920082"/>
            <a:ext cx="205208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creates it.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6066339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Document Object Model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605385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 becomes a live tree when the browser loads the page.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490" y="1593689"/>
            <a:ext cx="3200400" cy="41910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694631"/>
            <a:ext cx="12019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1097719" y="2114699"/>
            <a:ext cx="2833687" cy="938212"/>
          </a:xfrm>
          <a:prstGeom prst="rect">
            <a:avLst/>
          </a:prstGeom>
          <a:ln/>
        </p:spPr>
      </p:sp>
      <p:sp>
        <p:nvSpPr>
          <p:cNvPr id="9" name="Shape 6"/>
          <p:cNvSpPr/>
          <p:nvPr/>
        </p:nvSpPr>
        <p:spPr>
          <a:xfrm>
            <a:off x="1303437" y="2114066"/>
            <a:ext cx="2628900" cy="4191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91481" y="2215009"/>
            <a:ext cx="19175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document.body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1669666" y="2634444"/>
            <a:ext cx="2262187" cy="419100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1875383" y="2634444"/>
            <a:ext cx="2057400" cy="41910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63874" y="2735387"/>
            <a:ext cx="16312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productGrid</a:t>
            </a:r>
            <a:endParaRPr lang="en-US" sz="144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310" y="1595400"/>
            <a:ext cx="2286000" cy="11811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310" y="2889796"/>
            <a:ext cx="2432365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is our entry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310" y="3500735"/>
            <a:ext cx="29757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20" dirty="0">
                <a:solidFill>
                  <a:srgbClr val="17437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document.querySelector()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01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719" y="2114699"/>
            <a:ext cx="2833687" cy="93821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666" y="2634444"/>
            <a:ext cx="2262187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651936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Rendering Products from Data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183665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→ DOM → UI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937" y="1491853"/>
            <a:ext cx="3748087" cy="1795462"/>
          </a:xfrm>
          <a:prstGeom prst="rect">
            <a:avLst/>
          </a:prstGeom>
          <a:solidFill>
            <a:srgbClr val="1F2230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702966"/>
            <a:ext cx="20532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57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const</a:t>
            </a:r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products = [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1101923" y="1922636"/>
            <a:ext cx="34948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 id: 1, name: "Running Shoes",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1284833" y="2142306"/>
            <a:ext cx="34948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category: "Footwear", price: 79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101923" y="2361977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919088" y="2581647"/>
            <a:ext cx="27897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];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919088" y="2904158"/>
            <a:ext cx="28294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20" dirty="0">
                <a:solidFill>
                  <a:srgbClr val="F3C9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renderProducts(products);</a:t>
            </a:r>
            <a:endParaRPr lang="en-US" sz="11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859" y="1595400"/>
            <a:ext cx="2466975" cy="9239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929" y="2684041"/>
            <a:ext cx="3035915" cy="79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copying HTML,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creates the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cards.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5577929" y="3605212"/>
            <a:ext cx="2990061" cy="44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querySelector · createElement ·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textContent · append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5103019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Rendering Function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03423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reusable function keeps the interface in sync.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0523" y="1543422"/>
            <a:ext cx="4391025" cy="1962150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759223"/>
            <a:ext cx="30513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CC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function</a:t>
            </a:r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renderProducts() </a:t>
            </a:r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1101923" y="1986037"/>
            <a:ext cx="22750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grid.innerHTML = "";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1101923" y="2212851"/>
            <a:ext cx="327311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products.forEach(product =&gt; </a:t>
            </a:r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284833" y="2439665"/>
            <a:ext cx="44928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const card = createProductCard(product);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284833" y="2666479"/>
            <a:ext cx="20532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grid.append(card);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1101923" y="2893293"/>
            <a:ext cx="38993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919088" y="3120107"/>
            <a:ext cx="16810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12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55" y="1593986"/>
            <a:ext cx="2743200" cy="10810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55" y="2838376"/>
            <a:ext cx="211632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→ DOM → UI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5577855" y="3210818"/>
            <a:ext cx="3436121" cy="44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 the data, then re-render the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view.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313828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Events &amp; User Intent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26786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click is a message from the user to the application.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007" y="1646560"/>
            <a:ext cx="3109913" cy="942975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857301"/>
            <a:ext cx="28541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7437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button.addEventListener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919088" y="2193280"/>
            <a:ext cx="32190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 "click", handleDelete );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31007" y="2794881"/>
            <a:ext cx="3109913" cy="1114425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9088" y="2993008"/>
            <a:ext cx="138527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event.target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9088" y="3291334"/>
            <a:ext cx="3226393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element did the user interact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with?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80620" y="1603995"/>
            <a:ext cx="1487812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flow</a:t>
            </a:r>
            <a:endParaRPr lang="en-US" sz="1660" dirty="0"/>
          </a:p>
        </p:txBody>
      </p:sp>
      <p:sp>
        <p:nvSpPr>
          <p:cNvPr id="13" name="Shape 10"/>
          <p:cNvSpPr/>
          <p:nvPr/>
        </p:nvSpPr>
        <p:spPr>
          <a:xfrm>
            <a:off x="4481624" y="2064507"/>
            <a:ext cx="795338" cy="447675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1680" y="2176537"/>
            <a:ext cx="7009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Button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387169" y="2281200"/>
            <a:ext cx="366712" cy="14288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5864089" y="2064507"/>
            <a:ext cx="642938" cy="447675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4145" y="2176537"/>
            <a:ext cx="5028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617233" y="2281200"/>
            <a:ext cx="366712" cy="14288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7092404" y="2064507"/>
            <a:ext cx="614363" cy="447675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44209" y="2176537"/>
            <a:ext cx="4611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Grid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4480620" y="2779216"/>
            <a:ext cx="4183812" cy="522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Events bubble upward through the</a:t>
            </a:r>
            <a:endParaRPr lang="en-US" sz="144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DOM.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4480620" y="3426023"/>
            <a:ext cx="4501500" cy="44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behavior becomes powerful when content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dynamic.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3675742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Delegation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67629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listener on the grid can manage every product card.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2420" y="1594842"/>
            <a:ext cx="2924175" cy="1962150"/>
          </a:xfrm>
          <a:prstGeom prst="rect">
            <a:avLst/>
          </a:prstGeom>
          <a:solidFill>
            <a:srgbClr val="1F2230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810643"/>
            <a:ext cx="249679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grid.addEventListener(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1101923" y="2037457"/>
            <a:ext cx="238602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'click', (event) =&gt; </a:t>
            </a:r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1284833" y="2264271"/>
            <a:ext cx="2275069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86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const card =</a:t>
            </a:r>
            <a:endParaRPr lang="en-US" sz="1120" dirty="0"/>
          </a:p>
          <a:p>
            <a:pPr algn="l" indent="0" marL="0">
              <a:lnSpc>
                <a:spcPts val="1786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event.target.closest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1467669" y="2717899"/>
            <a:ext cx="20532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('.product-card');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284833" y="2944713"/>
            <a:ext cx="21641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handleAction(card);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1101923" y="3171527"/>
            <a:ext cx="38993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297226" y="1976772"/>
            <a:ext cx="1195387" cy="395287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8770" y="2062609"/>
            <a:ext cx="12171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Grid listener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629275" y="2167272"/>
            <a:ext cx="457200" cy="14288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2578" y="1594061"/>
            <a:ext cx="1147763" cy="3429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5528" y="1665312"/>
            <a:ext cx="6313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22578" y="2002966"/>
            <a:ext cx="1147763" cy="3429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65528" y="2074218"/>
            <a:ext cx="8874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Favourite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22578" y="2411871"/>
            <a:ext cx="1147763" cy="3429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5528" y="2483123"/>
            <a:ext cx="11775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details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297710" y="3072482"/>
            <a:ext cx="140577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0"/>
              </a:spcBef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use it?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4297710" y="3393504"/>
            <a:ext cx="5098666" cy="44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Re-rendering removes old buttons and their listeners.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Delegation keeps one stable listener alive.</a:t>
            </a:r>
            <a:endParaRPr lang="en-US" sz="1220" dirty="0"/>
          </a:p>
        </p:txBody>
      </p:sp>
      <p:sp>
        <p:nvSpPr>
          <p:cNvPr id="24" name="Text 21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0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142117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Forms &amp; Validation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479142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→ Validate → Update Array → Re-render UI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007" y="1593875"/>
            <a:ext cx="3567113" cy="2424113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791593"/>
            <a:ext cx="137366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Product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9125" y="2131479"/>
            <a:ext cx="3190875" cy="366712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996" y="2203028"/>
            <a:ext cx="14162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22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Name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919125" y="2574615"/>
            <a:ext cx="3190875" cy="366712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996" y="2646164"/>
            <a:ext cx="8970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22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919125" y="3017751"/>
            <a:ext cx="3190875" cy="366712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996" y="3089300"/>
            <a:ext cx="5224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220" dirty="0">
                <a:solidFill>
                  <a:srgbClr val="777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919088" y="3486931"/>
            <a:ext cx="1266825" cy="3429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101923" y="3558183"/>
            <a:ext cx="12286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product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663529" y="1655415"/>
            <a:ext cx="310073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the UI changes</a:t>
            </a:r>
            <a:endParaRPr lang="en-US" sz="1660" dirty="0"/>
          </a:p>
        </p:txBody>
      </p:sp>
      <p:sp>
        <p:nvSpPr>
          <p:cNvPr id="17" name="Text 14"/>
          <p:cNvSpPr/>
          <p:nvPr/>
        </p:nvSpPr>
        <p:spPr>
          <a:xfrm>
            <a:off x="4663529" y="2073697"/>
            <a:ext cx="275585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the name is present.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63529" y="2397696"/>
            <a:ext cx="2687367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the price is positive.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63529" y="2721694"/>
            <a:ext cx="259091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 </a:t>
            </a:r>
            <a:pPr algn="l" indent="0" marL="0">
              <a:buNone/>
            </a:pPr>
            <a:r>
              <a:rPr lang="en-US" sz="1300" dirty="0">
                <a:solidFill>
                  <a:srgbClr val="CC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preventDefault()</a:t>
            </a:r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3529" y="3055218"/>
            <a:ext cx="3936549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success, add to the array and reset.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221540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Search, Filter &amp; Sort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95702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useful catalog helps people find the right product quickly.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007" y="1646895"/>
            <a:ext cx="2195513" cy="180975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843013"/>
            <a:ext cx="1002960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919088" y="2261815"/>
            <a:ext cx="629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9088" y="2532683"/>
            <a:ext cx="9732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filter()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9088" y="2840682"/>
            <a:ext cx="2314635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a product name as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user types.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08387" y="1646895"/>
            <a:ext cx="2195513" cy="180975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6469" y="1843013"/>
            <a:ext cx="1322487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3296469" y="2261815"/>
            <a:ext cx="7441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change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96469" y="2532683"/>
            <a:ext cx="9732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filter()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296469" y="2840682"/>
            <a:ext cx="1989884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only the chosen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5805" y="1646895"/>
            <a:ext cx="2195513" cy="180975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73849" y="1843013"/>
            <a:ext cx="728707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5673849" y="2261815"/>
            <a:ext cx="7441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sort()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73849" y="2532683"/>
            <a:ext cx="10877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re-render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673849" y="2840682"/>
            <a:ext cx="2265008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products from low</a:t>
            </a:r>
            <a:endParaRPr lang="en-US" sz="1150" dirty="0"/>
          </a:p>
          <a:p>
            <a:pPr algn="l" indent="0" marL="0">
              <a:lnSpc>
                <a:spcPts val="1728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high.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31490" y="3827190"/>
            <a:ext cx="762208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35"/>
              </a:spcBef>
              <a:buNone/>
            </a:pPr>
            <a:r>
              <a:rPr lang="en-US" sz="144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control changes the view by changing the data we render.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3749844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Theme Switching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29107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JavaScript changes classes. CSS does the visual work.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0523" y="1594656"/>
            <a:ext cx="3476625" cy="1657350"/>
          </a:xfrm>
          <a:prstGeom prst="rect">
            <a:avLst/>
          </a:prstGeom>
          <a:solidFill>
            <a:srgbClr val="1F2230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9088" y="1820168"/>
            <a:ext cx="33627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themeButton.addEventListener</a:t>
            </a:r>
            <a:endParaRPr lang="en-US" sz="1190" dirty="0"/>
          </a:p>
        </p:txBody>
      </p:sp>
      <p:sp>
        <p:nvSpPr>
          <p:cNvPr id="8" name="Text 5"/>
          <p:cNvSpPr/>
          <p:nvPr/>
        </p:nvSpPr>
        <p:spPr>
          <a:xfrm>
            <a:off x="919088" y="2076673"/>
            <a:ext cx="21822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 'click', () =&gt; </a:t>
            </a:r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190" dirty="0"/>
          </a:p>
        </p:txBody>
      </p:sp>
      <p:sp>
        <p:nvSpPr>
          <p:cNvPr id="9" name="Text 6"/>
          <p:cNvSpPr/>
          <p:nvPr/>
        </p:nvSpPr>
        <p:spPr>
          <a:xfrm>
            <a:off x="1101923" y="2333179"/>
            <a:ext cx="35988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document.body.classList.toggle</a:t>
            </a:r>
            <a:endParaRPr lang="en-US" sz="1190" dirty="0"/>
          </a:p>
        </p:txBody>
      </p:sp>
      <p:sp>
        <p:nvSpPr>
          <p:cNvPr id="10" name="Text 7"/>
          <p:cNvSpPr/>
          <p:nvPr/>
        </p:nvSpPr>
        <p:spPr>
          <a:xfrm>
            <a:off x="1284833" y="2589684"/>
            <a:ext cx="13557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 'dark' );</a:t>
            </a:r>
            <a:endParaRPr lang="en-US" sz="1190" dirty="0"/>
          </a:p>
        </p:txBody>
      </p:sp>
      <p:sp>
        <p:nvSpPr>
          <p:cNvPr id="11" name="Text 8"/>
          <p:cNvSpPr/>
          <p:nvPr/>
        </p:nvSpPr>
        <p:spPr>
          <a:xfrm>
            <a:off x="919088" y="2846189"/>
            <a:ext cx="4114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pPr algn="l" indent="0" marL="0">
              <a:buNone/>
            </a:pPr>
            <a:r>
              <a:rPr lang="en-US" sz="119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190" dirty="0"/>
          </a:p>
        </p:txBody>
      </p:sp>
      <p:sp>
        <p:nvSpPr>
          <p:cNvPr id="12" name="Shape 9"/>
          <p:cNvSpPr/>
          <p:nvPr/>
        </p:nvSpPr>
        <p:spPr>
          <a:xfrm>
            <a:off x="4663976" y="1593503"/>
            <a:ext cx="1462088" cy="1390650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5437" y="1745903"/>
            <a:ext cx="59753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4470" y="2239491"/>
            <a:ext cx="1181100" cy="361950"/>
          </a:xfrm>
          <a:prstGeom prst="rect">
            <a:avLst/>
          </a:prstGeom>
          <a:solidFill>
            <a:srgbClr val="CFE2F3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5437" y="2702347"/>
            <a:ext cx="914400" cy="10477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3"/>
          <p:cNvSpPr/>
          <p:nvPr/>
        </p:nvSpPr>
        <p:spPr>
          <a:xfrm>
            <a:off x="4806367" y="2856607"/>
            <a:ext cx="638175" cy="10477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Shape 14"/>
          <p:cNvSpPr/>
          <p:nvPr/>
        </p:nvSpPr>
        <p:spPr>
          <a:xfrm>
            <a:off x="6309792" y="1593503"/>
            <a:ext cx="1462088" cy="1390650"/>
          </a:xfrm>
          <a:prstGeom prst="rect">
            <a:avLst/>
          </a:prstGeom>
          <a:solidFill>
            <a:srgbClr val="1F2230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51253" y="1745903"/>
            <a:ext cx="57450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50285" y="2239491"/>
            <a:ext cx="1181100" cy="361950"/>
          </a:xfrm>
          <a:prstGeom prst="rect">
            <a:avLst/>
          </a:prstGeom>
          <a:solidFill>
            <a:srgbClr val="17437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51253" y="2702347"/>
            <a:ext cx="914400" cy="104775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21" name="Shape 18"/>
          <p:cNvSpPr/>
          <p:nvPr/>
        </p:nvSpPr>
        <p:spPr>
          <a:xfrm>
            <a:off x="6452183" y="2856607"/>
            <a:ext cx="638175" cy="104775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22" name="Text 19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5733559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 E-Commerce Catalog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416644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interface, many DOM concepts working together.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007" y="1594991"/>
            <a:ext cx="1681162" cy="83820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398" y="1741140"/>
            <a:ext cx="5899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398" y="2095649"/>
            <a:ext cx="12764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array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548347" y="1594991"/>
            <a:ext cx="1681162" cy="8382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0738" y="1741140"/>
            <a:ext cx="8411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90738" y="2095649"/>
            <a:ext cx="11028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cards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65687" y="1594991"/>
            <a:ext cx="1681162" cy="838200"/>
          </a:xfrm>
          <a:prstGeom prst="rect">
            <a:avLst/>
          </a:prstGeom>
          <a:solidFill>
            <a:srgbClr val="D9D9D9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8078" y="1741140"/>
            <a:ext cx="93601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08078" y="2095649"/>
            <a:ext cx="17011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Events &amp; delegation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183064" y="1594991"/>
            <a:ext cx="1681162" cy="838200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5419" y="1741140"/>
            <a:ext cx="74437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437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25419" y="2095649"/>
            <a:ext cx="11729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 &amp; sort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30523" y="2640137"/>
            <a:ext cx="7134225" cy="19050"/>
          </a:xfrm>
          <a:prstGeom prst="rect">
            <a:avLst/>
          </a:prstGeom>
          <a:solidFill>
            <a:srgbClr val="BF9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730523" y="2865537"/>
            <a:ext cx="2257425" cy="838200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629" y="3035275"/>
            <a:ext cx="1374725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product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1629" y="3333601"/>
            <a:ext cx="15967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+ validation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168886" y="2865537"/>
            <a:ext cx="2257425" cy="838200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29955" y="3035275"/>
            <a:ext cx="194054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 / favourite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29955" y="3333601"/>
            <a:ext cx="153231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 delegation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07248" y="2865537"/>
            <a:ext cx="2257425" cy="838200"/>
          </a:xfrm>
          <a:prstGeom prst="rect">
            <a:avLst/>
          </a:prstGeom>
          <a:solidFill>
            <a:srgbClr val="F4F4F4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8355" y="3035275"/>
            <a:ext cx="1518478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Switch theme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68355" y="3333601"/>
            <a:ext cx="14946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classList.toggle()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9114" y="256394"/>
            <a:ext cx="1095375" cy="35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35" y="523875"/>
            <a:ext cx="4785620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Workshop Deliverable</a:t>
            </a:r>
            <a:endParaRPr lang="en-US" sz="2520" dirty="0"/>
          </a:p>
        </p:txBody>
      </p:sp>
      <p:sp>
        <p:nvSpPr>
          <p:cNvPr id="5" name="Text 2"/>
          <p:cNvSpPr/>
          <p:nvPr/>
        </p:nvSpPr>
        <p:spPr>
          <a:xfrm>
            <a:off x="640035" y="1106760"/>
            <a:ext cx="5110951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working Mini E-Commerce Product Catalog.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490" y="1603995"/>
            <a:ext cx="29401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product listing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4526235" y="1603995"/>
            <a:ext cx="39852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product form with validation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731490" y="2037383"/>
            <a:ext cx="209320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 products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4526235" y="2037383"/>
            <a:ext cx="24131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Favourite products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731490" y="2470770"/>
            <a:ext cx="199539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search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526235" y="2470770"/>
            <a:ext cx="222534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filtering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731490" y="2904158"/>
            <a:ext cx="170740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 sorting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526235" y="2904158"/>
            <a:ext cx="30622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pPr algn="l" indent="0" marL="0">
              <a:buNone/>
            </a:pPr>
            <a:r>
              <a:rPr lang="en-US" sz="144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Dark / light theme toggle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731118" y="4130241"/>
            <a:ext cx="4324350" cy="395287"/>
          </a:xfrm>
          <a:prstGeom prst="rect">
            <a:avLst/>
          </a:prstGeom>
          <a:solidFill>
            <a:srgbClr val="CFE2F3"/>
          </a:solidFill>
          <a:ln w="4763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9088" y="4216078"/>
            <a:ext cx="51900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Optional: load more · debounced search · local storage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8342" y="0"/>
            <a:ext cx="3476625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8342" y="0"/>
            <a:ext cx="3476625" cy="5143500"/>
          </a:xfrm>
          <a:prstGeom prst="rect">
            <a:avLst/>
          </a:prstGeom>
          <a:solidFill>
            <a:srgbClr val="FFFFFF">
              <a:alpha val="45098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6" y="359234"/>
            <a:ext cx="1095375" cy="3524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490" y="1149623"/>
            <a:ext cx="6101068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C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Reflection &amp; Next Steps</a:t>
            </a:r>
            <a:endParaRPr lang="en-US" sz="3100" dirty="0"/>
          </a:p>
        </p:txBody>
      </p:sp>
      <p:sp>
        <p:nvSpPr>
          <p:cNvPr id="7" name="Text 3"/>
          <p:cNvSpPr/>
          <p:nvPr/>
        </p:nvSpPr>
        <p:spPr>
          <a:xfrm>
            <a:off x="731490" y="1918440"/>
            <a:ext cx="5424867" cy="96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94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“HTML gives structure, CSS gives</a:t>
            </a:r>
            <a:endParaRPr lang="en-US" sz="194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94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style, but JavaScript brings a</a:t>
            </a:r>
            <a:endParaRPr lang="en-US" sz="194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94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webpage to life.”</a:t>
            </a:r>
            <a:endParaRPr lang="en-US" sz="1940" dirty="0"/>
          </a:p>
        </p:txBody>
      </p:sp>
      <p:sp>
        <p:nvSpPr>
          <p:cNvPr id="8" name="Text 4"/>
          <p:cNvSpPr/>
          <p:nvPr/>
        </p:nvSpPr>
        <p:spPr>
          <a:xfrm>
            <a:off x="731490" y="3124126"/>
            <a:ext cx="6234373" cy="47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the DOM? What problem does event delegation solve?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17437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do we re-render after updating data?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490" y="4573563"/>
            <a:ext cx="24340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· Workshop 02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449047" y="4647679"/>
            <a:ext cx="2474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1A40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2026-08-06T11:02:55Z</dcterms:created>
  <dcterms:modified xsi:type="dcterms:W3CDTF">2026-08-06T11:02:55Z</dcterms:modified>
</cp:coreProperties>
</file>