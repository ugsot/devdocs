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638675"/>
            <a:ext cx="2114550" cy="1933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85750"/>
            <a:ext cx="754094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B1C3C"/>
                </a:solidFill>
                <a:latin typeface="Inter"/>
              </a:rPr>
              <a:t>DOM Tree of a Product Catalog Webpage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800100"/>
            <a:ext cx="7181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1" u="none">
                <a:solidFill>
                  <a:srgbClr val="475569"/>
                </a:solidFill>
                <a:latin typeface="Inter"/>
              </a:rPr>
              <a:t>The browser converts HTML into a hierarchical tree of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3665" y="285750"/>
            <a:ext cx="1297334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950" i="0" u="none">
                <a:solidFill>
                  <a:srgbClr val="EF4444"/>
                </a:solidFill>
                <a:latin typeface="Inter ExtraBold"/>
              </a:rPr>
              <a:t>up</a:t>
            </a:r>
            <a:r>
              <a:rPr b="0" sz="1950" i="0" u="none">
                <a:solidFill>
                  <a:srgbClr val="0B1C3C"/>
                </a:solidFill>
                <a:latin typeface="Inter ExtraBold"/>
              </a:rPr>
              <a:t>Grad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8475" y="561975"/>
            <a:ext cx="11525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825" i="0" u="none">
                <a:solidFill>
                  <a:srgbClr val="334155"/>
                </a:solidFill>
                <a:latin typeface="Inter SemiBold"/>
              </a:rPr>
              <a:t>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00600"/>
            <a:ext cx="18002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Legend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114425"/>
            <a:ext cx="809625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0625" y="1114425"/>
            <a:ext cx="95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290" y="576262"/>
            <a:ext cx="106709" cy="104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091112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Root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329237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HTML Structural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567362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Form 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05487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Text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6043612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Product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6281737"/>
            <a:ext cx="1714500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Inter Medium"/>
              </a:rPr>
              <a:t>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5091112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1025" y="5329237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1025" y="5567362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1025" y="5805487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FEFCE8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1025" y="6043612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FDF2F8"/>
          </a:solidFill>
          <a:ln w="95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1025" y="6281737"/>
            <a:ext cx="190500" cy="1143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762" y="1601985"/>
            <a:ext cx="13335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10262" y="1590675"/>
            <a:ext cx="561975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5803D"/>
                </a:solidFill>
                <a:latin typeface="Inter SemiBold"/>
              </a:rPr>
              <a:t>Document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925" y="2158156"/>
            <a:ext cx="142875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76950" y="2146845"/>
            <a:ext cx="238125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html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28700" y="3000077"/>
            <a:ext cx="14287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-828675" y="2988766"/>
            <a:ext cx="2667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head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225" y="3000077"/>
            <a:ext cx="14287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15250" y="2988766"/>
            <a:ext cx="2667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body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09800" y="3841998"/>
            <a:ext cx="14287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-2009775" y="3830687"/>
            <a:ext cx="276225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meta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71600" y="3903017"/>
            <a:ext cx="104775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-1209675" y="3830687"/>
            <a:ext cx="7334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A16207"/>
                </a:solidFill>
                <a:latin typeface="Inter SemiBold"/>
              </a:rPr>
              <a:t>title</a:t>
            </a:r>
            <a:r>
              <a:rPr b="0" sz="900" i="0" u="none">
                <a:solidFill>
                  <a:srgbClr val="A16207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"Product Catalog"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4300" y="3841998"/>
            <a:ext cx="142875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725" y="3830687"/>
            <a:ext cx="5334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link (CSS)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0687" y="3841998"/>
            <a:ext cx="142875" cy="114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90712" y="3830687"/>
            <a:ext cx="200025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nav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0887" y="3841998"/>
            <a:ext cx="142875" cy="1143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490912" y="3830687"/>
            <a:ext cx="89535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section (Search)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9687" y="3841998"/>
            <a:ext cx="142875" cy="1143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29712" y="3830687"/>
            <a:ext cx="2667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main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6950" y="3841998"/>
            <a:ext cx="85725" cy="114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120812" y="3830687"/>
            <a:ext cx="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475569"/>
                </a:solidFill>
                <a:latin typeface="Inter SemiBold"/>
              </a:rPr>
              <a:t>script (JS)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4744938"/>
            <a:ext cx="104775" cy="114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14450" y="4672607"/>
            <a:ext cx="4381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A16207"/>
                </a:solidFill>
                <a:latin typeface="Inter SemiBold"/>
              </a:rPr>
              <a:t>h1</a:t>
            </a:r>
            <a:r>
              <a:rPr b="0" sz="900" i="0" u="none">
                <a:solidFill>
                  <a:srgbClr val="A16207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"My Store"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4550" y="4744938"/>
            <a:ext cx="104775" cy="1143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276475" y="4672607"/>
            <a:ext cx="3524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A16207"/>
                </a:solidFill>
                <a:latin typeface="Inter SemiBold"/>
              </a:rPr>
              <a:t>button</a:t>
            </a:r>
            <a:r>
              <a:rPr b="0" sz="900" i="0" u="none">
                <a:solidFill>
                  <a:srgbClr val="A16207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"Theme"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5150" y="4744938"/>
            <a:ext cx="114300" cy="1143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76600" y="4672607"/>
            <a:ext cx="33337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7E22CE"/>
                </a:solidFill>
                <a:latin typeface="Inter SemiBold"/>
              </a:rPr>
              <a:t>input</a:t>
            </a:r>
            <a:r>
              <a:rPr b="0" sz="900" i="0" u="none">
                <a:solidFill>
                  <a:srgbClr val="7E22CE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(Search)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925" y="4744938"/>
            <a:ext cx="114300" cy="1143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43375" y="4672607"/>
            <a:ext cx="4286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7E22CE"/>
                </a:solidFill>
                <a:latin typeface="Inter SemiBold"/>
              </a:rPr>
              <a:t>select</a:t>
            </a:r>
            <a:r>
              <a:rPr b="0" sz="900" i="0" u="none">
                <a:solidFill>
                  <a:srgbClr val="7E22CE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(Category)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6312" y="4398168"/>
            <a:ext cx="142875" cy="1143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96337" y="4386857"/>
            <a:ext cx="93345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1D4ED8"/>
                </a:solidFill>
                <a:latin typeface="Inter SemiBold"/>
              </a:rPr>
              <a:t>div#product-grid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9287" y="5240089"/>
            <a:ext cx="142875" cy="1143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29312" y="5228778"/>
            <a:ext cx="11049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BE185D"/>
                </a:solidFill>
                <a:latin typeface="Inter SemiBold"/>
              </a:rPr>
              <a:t>article.product-card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8687" y="5240089"/>
            <a:ext cx="142875" cy="1143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48712" y="5228778"/>
            <a:ext cx="11049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BE185D"/>
                </a:solidFill>
                <a:latin typeface="Inter SemiBold"/>
              </a:rPr>
              <a:t>article.product-card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29987" y="5240089"/>
            <a:ext cx="142875" cy="1143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751468" y="5228778"/>
            <a:ext cx="661987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b="0" sz="900" i="0" u="none">
                <a:solidFill>
                  <a:srgbClr val="BE185D"/>
                </a:solidFill>
                <a:latin typeface="Inter SemiBold"/>
              </a:rPr>
              <a:t>article.product-card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6350" y="6061174"/>
            <a:ext cx="114300" cy="1143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38750" y="6051649"/>
            <a:ext cx="19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1D4ED8"/>
                </a:solidFill>
                <a:latin typeface="Inter SemiBold"/>
              </a:rPr>
              <a:t>img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8800" y="6112519"/>
            <a:ext cx="104775" cy="1143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781675" y="6051649"/>
            <a:ext cx="62865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h3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"Running Shoes"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6112519"/>
            <a:ext cx="104775" cy="1143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762750" y="6051649"/>
            <a:ext cx="219075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p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"$79"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1375" y="6112519"/>
            <a:ext cx="104775" cy="1143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334250" y="6051649"/>
            <a:ext cx="34290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button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"Delete"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0" y="6061174"/>
            <a:ext cx="114300" cy="1143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153400" y="6051649"/>
            <a:ext cx="19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1D4ED8"/>
                </a:solidFill>
                <a:latin typeface="Inter SemiBold"/>
              </a:rPr>
              <a:t>img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3450" y="6112519"/>
            <a:ext cx="104775" cy="1143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696325" y="6051649"/>
            <a:ext cx="43815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h3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"Backpack"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4025" y="6112519"/>
            <a:ext cx="104775" cy="1143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486900" y="6051649"/>
            <a:ext cx="219075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p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"$49"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15525" y="6112519"/>
            <a:ext cx="104775" cy="1143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058400" y="6051649"/>
            <a:ext cx="34290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button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"Delete"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5150" y="6061174"/>
            <a:ext cx="114300" cy="1143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877550" y="6051649"/>
            <a:ext cx="19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1D4ED8"/>
                </a:solidFill>
                <a:latin typeface="Inter SemiBold"/>
              </a:rPr>
              <a:t>img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77600" y="6112519"/>
            <a:ext cx="104775" cy="1143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420475" y="6051649"/>
            <a:ext cx="55245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h3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"Headphones"</a:t>
            </a: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82475" y="6112519"/>
            <a:ext cx="104775" cy="1143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2434887" y="6051649"/>
            <a:ext cx="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p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"$29"</a:t>
            </a:r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53975" y="6112519"/>
            <a:ext cx="104775" cy="1143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3068300" y="6051649"/>
            <a:ext cx="0" cy="236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0" sz="825" i="0" u="none">
                <a:solidFill>
                  <a:srgbClr val="A16207"/>
                </a:solidFill>
                <a:latin typeface="Inter SemiBold"/>
              </a:rPr>
              <a:t>button</a:t>
            </a:r>
            <a:r>
              <a:rPr b="0" sz="825" i="0" u="none">
                <a:solidFill>
                  <a:srgbClr val="475569"/>
                </a:solidFill>
                <a:latin typeface="Inter"/>
              </a:rPr>
              <a:t>"Delete"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