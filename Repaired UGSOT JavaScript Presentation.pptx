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11" Type="http://schemas.openxmlformats.org/officeDocument/2006/relationships/image" Target="../media/image2.png"/><Relationship Id="rId10" Type="http://schemas.openxmlformats.org/officeDocument/2006/relationships/image" Target="../media/image42.png"/><Relationship Id="rId12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9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11" Type="http://schemas.openxmlformats.org/officeDocument/2006/relationships/image" Target="../media/image23.png"/><Relationship Id="rId10" Type="http://schemas.openxmlformats.org/officeDocument/2006/relationships/image" Target="../media/image14.png"/><Relationship Id="rId9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30.png"/><Relationship Id="rId6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4.png"/><Relationship Id="rId8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Relationship Id="rId4" Type="http://schemas.openxmlformats.org/officeDocument/2006/relationships/image" Target="../media/image46.png"/><Relationship Id="rId5" Type="http://schemas.openxmlformats.org/officeDocument/2006/relationships/image" Target="../media/image33.png"/><Relationship Id="rId6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50" y="-47625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20955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945034"/>
            <a:ext cx="11601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JavaScript Workshop 2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" y="3173759"/>
            <a:ext cx="1428750" cy="762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535709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Open Source Track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40427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Lato"/>
                <a:ea typeface="Lato"/>
                <a:cs typeface="Lato"/>
                <a:sym typeface="Lato"/>
              </a:rPr>
              <a:t>upGrad School of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23975"/>
            <a:ext cx="3492400" cy="2558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1323975"/>
            <a:ext cx="3492549" cy="2558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1323975"/>
            <a:ext cx="3492400" cy="2558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68080"/>
            <a:ext cx="3492400" cy="2558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4168080"/>
            <a:ext cx="3492549" cy="2558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4168080"/>
            <a:ext cx="3492400" cy="255835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105775" y="381000"/>
            <a:ext cx="3514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Poppins"/>
                <a:ea typeface="Poppins"/>
                <a:cs typeface="Poppins"/>
                <a:sym typeface="Poppins"/>
              </a:rPr>
              <a:t>upGrad</a:t>
            </a:r>
            <a:r>
              <a:rPr b="1" i="0" lang="en-US" sz="18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 School of Technology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131564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What Are We Building?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31564"/>
            <a:ext cx="76200" cy="5715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703064"/>
            <a:ext cx="102584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Here's the destination before we start the journey - every topic today exists to build this one project: </a:t>
            </a:r>
            <a:r>
              <a:rPr b="1" i="0" lang="en-US" sz="16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A Todo App</a:t>
            </a:r>
            <a:r>
              <a:rPr b="0" i="0" lang="en-US" sz="16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7250" y="2305050"/>
            <a:ext cx="30669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Add Task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57250" y="2905125"/>
            <a:ext cx="2920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Type a task and submit - it appears in the list instantly.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635400" y="2305050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Delete Task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35400" y="2905125"/>
            <a:ext cx="292104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Click the delete icon on any task, even ones added after load, to remove it.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13700" y="2305050"/>
            <a:ext cx="30669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Mark Complete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413700" y="2905125"/>
            <a:ext cx="2920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Click a task to toggle a strikethrough style, marking it done.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57250" y="5149155"/>
            <a:ext cx="30669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Validation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57250" y="5749230"/>
            <a:ext cx="2920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Empty or whitespace-only tasks are rejected with an inline error message.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635400" y="5149155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Dark Mode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635400" y="5749230"/>
            <a:ext cx="292104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One click toggles the whole page between light and dark themes.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413700" y="5149155"/>
            <a:ext cx="30669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100% Vanilla JS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413700" y="5749230"/>
            <a:ext cx="2920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No framework, no build step - just HTML, CSS, and pure JavaScript.</a:t>
            </a:r>
            <a:endParaRPr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16954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400" y="16954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700" y="16954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250" y="453955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35400" y="453955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13700" y="4539555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/>
        </p:nvSpPr>
        <p:spPr>
          <a:xfrm>
            <a:off x="8105775" y="381000"/>
            <a:ext cx="3514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Poppins"/>
                <a:ea typeface="Poppins"/>
                <a:cs typeface="Poppins"/>
                <a:sym typeface="Poppins"/>
              </a:rPr>
              <a:t>upGrad</a:t>
            </a:r>
            <a:r>
              <a:rPr b="1" i="0" lang="en-US" sz="18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 School of Technology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How The Connection Works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191735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JS Alone Isn't Enough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2565052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JavaScript lives in memory and HTML lives on the page. Something has to connect the two.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3256508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JavaScript never edits HTML directly — it edits the DOM, and the browser repaints the result.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6334125" y="1917352"/>
            <a:ext cx="5286375" cy="1007715"/>
          </a:xfrm>
          <a:prstGeom prst="roundRect">
            <a:avLst>
              <a:gd fmla="val 7561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6905625" y="2107852"/>
            <a:ext cx="45243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1. JavaScript</a:t>
            </a: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Variables, functions, and logic — running, but invisible.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6334125" y="1917352"/>
            <a:ext cx="47625" cy="1007715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6334125" y="3115567"/>
            <a:ext cx="5286375" cy="1007715"/>
          </a:xfrm>
          <a:prstGeom prst="roundRect">
            <a:avLst>
              <a:gd fmla="val 7561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6905625" y="3306067"/>
            <a:ext cx="45243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2. The DOM</a:t>
            </a: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The live bridge JavaScript uses to reach the page.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6334125" y="3115567"/>
            <a:ext cx="47625" cy="1007715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6334125" y="4313783"/>
            <a:ext cx="5286375" cy="1007715"/>
          </a:xfrm>
          <a:prstGeom prst="roundRect">
            <a:avLst>
              <a:gd fmla="val 7561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6905625" y="4504283"/>
            <a:ext cx="4524375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3. Browser Display</a:t>
            </a: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What the user actually sees and clicks on.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6334125" y="4313783"/>
            <a:ext cx="47625" cy="1007715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0" y="211737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0" y="331559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0" y="4513808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8105775" y="381000"/>
            <a:ext cx="3514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Poppins"/>
                <a:ea typeface="Poppins"/>
                <a:cs typeface="Poppins"/>
                <a:sym typeface="Poppins"/>
              </a:rPr>
              <a:t>upGrad</a:t>
            </a:r>
            <a:r>
              <a:rPr b="1" i="0" lang="en-US" sz="18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 School of Technology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2750581" y="2159347"/>
            <a:ext cx="6690836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Nodes vs Elements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524500" y="3645247"/>
            <a:ext cx="1143000" cy="762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3990975" y="4007197"/>
            <a:ext cx="4210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Every element is a node, but not every node is an element.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Text, comments, and whitespace are nodes too.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6837" y="1627882"/>
            <a:ext cx="18383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4125" y="5856982"/>
            <a:ext cx="14287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9125" y="5856982"/>
            <a:ext cx="14287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8105775" y="381000"/>
            <a:ext cx="3514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Poppins"/>
                <a:ea typeface="Poppins"/>
                <a:cs typeface="Poppins"/>
                <a:sym typeface="Poppins"/>
              </a:rPr>
              <a:t>upGrad</a:t>
            </a:r>
            <a:r>
              <a:rPr b="1" i="0" lang="en-US" sz="18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 School of Technology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762000" y="448716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The DOM Tree Structure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71500" y="448716"/>
            <a:ext cx="76200" cy="5715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571500" y="1020216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The browser converts HTML into a hierarchical tree of nodes.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6086475" y="2466082"/>
            <a:ext cx="19050" cy="2857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6086475" y="3875782"/>
            <a:ext cx="19050" cy="2857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1625" y="3037582"/>
            <a:ext cx="14287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52875" y="4447282"/>
            <a:ext cx="14287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0375" y="4447282"/>
            <a:ext cx="14287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/>
          <p:nvPr/>
        </p:nvSpPr>
        <p:spPr>
          <a:xfrm>
            <a:off x="5362575" y="5285482"/>
            <a:ext cx="19050" cy="2857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6810375" y="5285482"/>
            <a:ext cx="19050" cy="2857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429125" y="5856982"/>
            <a:ext cx="1428750" cy="552450"/>
          </a:xfrm>
          <a:prstGeom prst="roundRect">
            <a:avLst>
              <a:gd fmla="val 13793" name="adj"/>
            </a:avLst>
          </a:prstGeom>
          <a:solidFill>
            <a:srgbClr val="FFF0F2"/>
          </a:solidFill>
          <a:ln cap="flat" cmpd="sng" w="1905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334125" y="5856982"/>
            <a:ext cx="1428750" cy="552450"/>
          </a:xfrm>
          <a:prstGeom prst="roundRect">
            <a:avLst>
              <a:gd fmla="val 13793" name="adj"/>
            </a:avLst>
          </a:prstGeom>
          <a:solidFill>
            <a:srgbClr val="FFF0F2"/>
          </a:solidFill>
          <a:ln cap="flat" cmpd="sng" w="1905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81637" y="181838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38837" y="322808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24375" y="463778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10450" y="4637782"/>
            <a:ext cx="1333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323082"/>
            <a:ext cx="5286375" cy="166866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8105775" y="381000"/>
            <a:ext cx="3514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Poppins"/>
                <a:ea typeface="Poppins"/>
                <a:cs typeface="Poppins"/>
                <a:sym typeface="Poppins"/>
              </a:rPr>
              <a:t>upGrad</a:t>
            </a:r>
            <a:r>
              <a:rPr b="1" i="0" lang="en-US" sz="18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 School of Technology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Selecting Elements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571500" y="132308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querySelector()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71500" y="192315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Turns a CSS selector (an id, a class, a tag) into a real JavaScript variable.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571500" y="2483197"/>
            <a:ext cx="5286375" cy="1017240"/>
          </a:xfrm>
          <a:prstGeom prst="roundRect">
            <a:avLst>
              <a:gd fmla="val 749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1143000" y="2673697"/>
            <a:ext cx="4524375" cy="6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Select by ID</a:t>
            </a: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querySelector('#id')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2483197"/>
            <a:ext cx="47625" cy="10172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571500" y="3690937"/>
            <a:ext cx="5286375" cy="1017240"/>
          </a:xfrm>
          <a:prstGeom prst="roundRect">
            <a:avLst>
              <a:gd fmla="val 749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1143000" y="3881437"/>
            <a:ext cx="4524375" cy="6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Select by Class</a:t>
            </a: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querySelector('.class')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71500" y="3690937"/>
            <a:ext cx="47625" cy="10172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71500" y="4898677"/>
            <a:ext cx="5286375" cy="1017240"/>
          </a:xfrm>
          <a:prstGeom prst="roundRect">
            <a:avLst>
              <a:gd fmla="val 749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1143000" y="5089177"/>
            <a:ext cx="4524375" cy="6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Select by Tag</a:t>
            </a: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querySelector('button')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71500" y="4898677"/>
            <a:ext cx="47625" cy="10172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6" name="Google Shape;19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268322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38909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5098702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18333"/>
            <a:ext cx="5381625" cy="2908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618333"/>
            <a:ext cx="5381625" cy="290884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105775" y="381000"/>
            <a:ext cx="3514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Poppins"/>
                <a:ea typeface="Poppins"/>
                <a:cs typeface="Poppins"/>
                <a:sym typeface="Poppins"/>
              </a:rPr>
              <a:t>upGrad</a:t>
            </a:r>
            <a:r>
              <a:rPr b="1" i="0" lang="en-US" sz="18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 School of Technology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querySelector vs querySelectorAll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571500" y="1902172"/>
            <a:ext cx="52197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Both use CSS selectors—but they return different results.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57250" y="3599408"/>
            <a:ext cx="50506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querySelector()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524625" y="3599408"/>
            <a:ext cx="50506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querySelectorAll()</a:t>
            </a:r>
            <a:endParaRPr/>
          </a:p>
        </p:txBody>
      </p:sp>
      <p:pic>
        <p:nvPicPr>
          <p:cNvPr descr="image.png" id="211" name="Google Shape;21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98980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952500" y="422710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1047750" y="4228058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Returns the </a:t>
            </a:r>
            <a:r>
              <a:rPr b="1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first</a:t>
            </a: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matching element.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952500" y="450139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047750" y="4502348"/>
            <a:ext cx="46196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Return type: Element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952500" y="478521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1047750" y="4786163"/>
            <a:ext cx="46196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Returns null if nothing matches.</a:t>
            </a:r>
            <a:endParaRPr/>
          </a:p>
        </p:txBody>
      </p:sp>
      <p:pic>
        <p:nvPicPr>
          <p:cNvPr descr="image.png" id="218" name="Google Shape;21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989808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6619875" y="422710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715125" y="4228058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Returns </a:t>
            </a:r>
            <a:r>
              <a:rPr b="1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all</a:t>
            </a: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matching elements.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619875" y="450139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715125" y="4502348"/>
            <a:ext cx="46196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Return type: NodeList (Looks like an array).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6619875" y="478521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715125" y="4786163"/>
            <a:ext cx="46196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Returns an empty NodeList if nothing matches.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83197"/>
            <a:ext cx="11049000" cy="112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84277"/>
            <a:ext cx="3492400" cy="1497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3984277"/>
            <a:ext cx="3492549" cy="1497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3984277"/>
            <a:ext cx="3492400" cy="149721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8105775" y="381000"/>
            <a:ext cx="3514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Poppins"/>
                <a:ea typeface="Poppins"/>
                <a:cs typeface="Poppins"/>
                <a:sym typeface="Poppins"/>
              </a:rPr>
              <a:t>upGrad</a:t>
            </a:r>
            <a:r>
              <a:rPr b="1" i="0" lang="en-US" sz="18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 School of Technology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Handling Events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571500" y="1948011"/>
            <a:ext cx="9978776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Three pieces, one line — connect user actions to your code using the modern addEventListener() method.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762000" y="4222402"/>
            <a:ext cx="326697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The Listener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762000" y="4651027"/>
            <a:ext cx="31114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The element you want to watch (e.g., button).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4540150" y="4222402"/>
            <a:ext cx="32671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The Event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4540150" y="4651027"/>
            <a:ext cx="3111549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The string that names the action (e.g., 'click', 'submit').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318450" y="4222402"/>
            <a:ext cx="326697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The Callback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8318450" y="4651027"/>
            <a:ext cx="31114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The function that runs every time the event fires.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800248"/>
            <a:ext cx="5381625" cy="2975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800248"/>
            <a:ext cx="5381625" cy="2975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61519"/>
            <a:ext cx="5381625" cy="2567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4061519"/>
            <a:ext cx="5381625" cy="2567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8105775" y="381000"/>
            <a:ext cx="3514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Poppins"/>
                <a:ea typeface="Poppins"/>
                <a:cs typeface="Poppins"/>
                <a:sym typeface="Poppins"/>
              </a:rPr>
              <a:t>upGrad</a:t>
            </a:r>
            <a:r>
              <a:rPr b="1" i="0" lang="en-US" sz="18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 School of Technology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762000" y="228748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Common DOM Events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571500" y="228748"/>
            <a:ext cx="76200" cy="5715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857250" y="1781323"/>
            <a:ext cx="50506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click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857250" y="2381398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Fires when the user clicks a button, link, icon, or any clickable element.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6524625" y="1781323"/>
            <a:ext cx="50506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submit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524625" y="2381398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Fires when a form is submitted (e.g., hitting Enter in an input or clicking submit).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6524625" y="3072854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31837"/>
                </a:solidFill>
                <a:latin typeface="Lato"/>
                <a:ea typeface="Lato"/>
                <a:cs typeface="Lato"/>
                <a:sym typeface="Lato"/>
              </a:rPr>
              <a:t>Always use e.preventDefault()!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857250" y="5042594"/>
            <a:ext cx="50506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input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857250" y="5642669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Fires every single time the value inside an input field changes.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524625" y="5042594"/>
            <a:ext cx="50506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keydown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524625" y="5642669"/>
            <a:ext cx="48101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Fires whenever a keyboard key is pressed down. Check e.key to verify which key.</a:t>
            </a:r>
            <a:endParaRPr/>
          </a:p>
        </p:txBody>
      </p:sp>
      <p:pic>
        <p:nvPicPr>
          <p:cNvPr descr="image.png" id="263" name="Google Shape;26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117172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117172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443299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4432994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8105775" y="381000"/>
            <a:ext cx="3514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Poppins"/>
                <a:ea typeface="Poppins"/>
                <a:cs typeface="Poppins"/>
                <a:sym typeface="Poppins"/>
              </a:rPr>
              <a:t>upGrad</a:t>
            </a:r>
            <a:r>
              <a:rPr b="1" i="0" lang="en-US" sz="18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 School of Technology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3055620" y="1972567"/>
            <a:ext cx="608076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Event Delegation</a:t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5524500" y="3458467"/>
            <a:ext cx="1143000" cy="762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4419600" y="3820417"/>
            <a:ext cx="3352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Listen on the parent, react to the clicked child.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3033712" y="4428083"/>
            <a:ext cx="61245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One listener on a parent  handles events for all current </a:t>
            </a:r>
            <a:r>
              <a:rPr b="1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and future</a:t>
            </a: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 elements.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 txBox="1"/>
          <p:nvPr/>
        </p:nvSpPr>
        <p:spPr>
          <a:xfrm>
            <a:off x="8105775" y="381000"/>
            <a:ext cx="3514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Poppins"/>
                <a:ea typeface="Poppins"/>
                <a:cs typeface="Poppins"/>
                <a:sym typeface="Poppins"/>
              </a:rPr>
              <a:t>upGrad</a:t>
            </a:r>
            <a:r>
              <a:rPr b="1" i="0" lang="en-US" sz="18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 School of Technology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762000" y="417314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Add Task Workflow</a:t>
            </a:r>
            <a:endParaRPr/>
          </a:p>
        </p:txBody>
      </p:sp>
      <p:sp>
        <p:nvSpPr>
          <p:cNvPr id="283" name="Google Shape;283;p23"/>
          <p:cNvSpPr/>
          <p:nvPr/>
        </p:nvSpPr>
        <p:spPr>
          <a:xfrm>
            <a:off x="571500" y="417314"/>
            <a:ext cx="76200" cy="5715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571500" y="988814"/>
            <a:ext cx="67722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Every new element added to the DOM follows the same four-step process: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571500" y="1609725"/>
            <a:ext cx="11049000" cy="1017240"/>
          </a:xfrm>
          <a:prstGeom prst="roundRect">
            <a:avLst>
              <a:gd fmla="val 749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1143000" y="1800225"/>
            <a:ext cx="10287000" cy="6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1. Read Input</a:t>
            </a: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input.value.trim() - Read the user's text and remove whitespace.</a:t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71500" y="1609725"/>
            <a:ext cx="47625" cy="10172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571500" y="2817465"/>
            <a:ext cx="11049000" cy="1017240"/>
          </a:xfrm>
          <a:prstGeom prst="roundRect">
            <a:avLst>
              <a:gd fmla="val 749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1143000" y="3007965"/>
            <a:ext cx="10287000" cy="6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2. Validate</a:t>
            </a: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if (!text) return; - Ignore empty submissions to prevent blank tasks.</a:t>
            </a:r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571500" y="2817465"/>
            <a:ext cx="47625" cy="10172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571500" y="4025205"/>
            <a:ext cx="11049000" cy="1017240"/>
          </a:xfrm>
          <a:prstGeom prst="roundRect">
            <a:avLst>
              <a:gd fmla="val 749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1143000" y="4215705"/>
            <a:ext cx="10287000" cy="6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3. Create Element</a:t>
            </a: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document.createElement("li") - Creates the element in Browser Memory (not visible yet).</a:t>
            </a:r>
            <a:endParaRPr/>
          </a:p>
        </p:txBody>
      </p:sp>
      <p:sp>
        <p:nvSpPr>
          <p:cNvPr id="293" name="Google Shape;293;p23"/>
          <p:cNvSpPr/>
          <p:nvPr/>
        </p:nvSpPr>
        <p:spPr>
          <a:xfrm>
            <a:off x="571500" y="4025205"/>
            <a:ext cx="47625" cy="10172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571500" y="5232945"/>
            <a:ext cx="11049000" cy="1017240"/>
          </a:xfrm>
          <a:prstGeom prst="roundRect">
            <a:avLst>
              <a:gd fmla="val 749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1143000" y="5423445"/>
            <a:ext cx="10287000" cy="6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4. Show on Page</a:t>
            </a:r>
            <a:r>
              <a:rPr b="0" i="0" lang="en-US" sz="135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list.appendChild(task) - Appends to the DOM and makes it visible. Clear input after.</a:t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571500" y="5232945"/>
            <a:ext cx="47625" cy="10172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7" name="Google Shape;2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18097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301749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422523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5432970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52500" y="-9525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4"/>
          <p:cNvSpPr txBox="1"/>
          <p:nvPr/>
        </p:nvSpPr>
        <p:spPr>
          <a:xfrm>
            <a:off x="8105775" y="381000"/>
            <a:ext cx="35147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Poppins"/>
                <a:ea typeface="Poppins"/>
                <a:cs typeface="Poppins"/>
                <a:sym typeface="Poppins"/>
              </a:rPr>
              <a:t>upGrad</a:t>
            </a:r>
            <a:r>
              <a:rPr b="1" i="0" lang="en-US" sz="180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 School of Technology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3515677" y="2077342"/>
            <a:ext cx="516064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121212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308" name="Google Shape;308;p24"/>
          <p:cNvSpPr/>
          <p:nvPr/>
        </p:nvSpPr>
        <p:spPr>
          <a:xfrm>
            <a:off x="5524500" y="3848992"/>
            <a:ext cx="1143000" cy="762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4805362" y="4210942"/>
            <a:ext cx="25812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Let's build the project!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